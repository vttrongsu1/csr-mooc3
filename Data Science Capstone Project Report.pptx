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IBM APPLIED DATA SCIENCE CAPSTONE - FINAL PROJECT</a:t>
            </a:r>
          </a:p>
          <a:p>
            <a:pPr>
              <a:defRPr sz="3800" b="1">
                <a:solidFill>
                  <a:srgbClr val="FFFFFF"/>
                </a:solidFill>
              </a:defRPr>
            </a:pPr>
            <a:r>
              <a:t>SpaceX Falcon 9 First Stage</a:t>
            </a:r>
            <a:br/>
            <a:r>
              <a:t>Landing Prediction Report</a:t>
            </a:r>
          </a:p>
          <a:p>
            <a:br/>
            <a:pPr>
              <a:defRPr sz="1500">
                <a:solidFill>
                  <a:srgbClr val="CBD5E1"/>
                </a:solidFill>
              </a:defRPr>
            </a:pPr>
            <a:r>
              <a:t>End-to-End Data Science Solution: API Extraction, Web Scraping, SQL, Interactive Analytics &amp; Machine Learning</a:t>
            </a:r>
          </a:p>
          <a:p>
            <a:br/>
            <a:pPr>
              <a:defRPr sz="1300">
                <a:solidFill>
                  <a:srgbClr val="06B6D4"/>
                </a:solidFill>
              </a:defRPr>
            </a:pPr>
            <a:r>
              <a:t>Author: vttrongsu1  |  Format: Presentation Slides in PDF Format (Question 2)</a:t>
            </a:r>
            <a:br/>
            <a:r>
              <a:t>Project GitHub Repository (Question 1): https://github.com/vttrongsu1/csr-mooc3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QUESTION 3: EXECUTIVE SUMMARY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Data Science Professional Certificate  |  GitHub: https://github.com/vttrongsu1/csr-mooc3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52120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</a:defRPr>
            </a:pPr>
            <a:r>
              <a:t>Project Objectives &amp; Methods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Business Context: First stage booster reusability slashes Falcon 9 launch costs to $62M vs. $165M+ for traditional expendable rockets (~60% savings).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Problem: Accurately predict whether the first stage will land successfully to empower commercial customers with cost estimates and risk profiles.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Data Pipeline: Harvested 90 launches via SpaceX REST API &amp; Wikipedia web scraping; imputed missing values; engineered 83 feature vectors.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Analytics Suite: Comprehensive 10-query SQL database analysis, interactive Folium geospatial mapping, and reactive Plotly Dash dashboard.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Modeling: Supervised classification algorithms (Logistic Regression, SVM, Decision Tree, KNN) tuned with 10-fold GridSearchCV.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34440"/>
            <a:ext cx="52120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</a:defRPr>
            </a:pPr>
            <a:r>
              <a:t>Key Results &amp; Business Impact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Launch Site Reliability: KSC LC-39A is the premier launch complex with a 76.9% recovery success rate.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Optimal Payload Band: Successful recoveries cluster heavily between 2,000 kg and 5,300 kg, balancing payload mass with fuel reserves.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Orbital Risk Profiles: ES-L1, GEO, HEO, and SSO achieve 100% success; high-energy GTO missions have lower recovery (~60%).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Maturation Trend: Recovery success rate evolved from 0% (2010–2012) to &gt;85% (2018–2020) with Block 5 boosters.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Top Machine Learning Models: Logistic Regression and SVM achieved 83.33% test accuracy with 100% recall on successful landings.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Full Project Code: https://github.com/vttrongsu1/csr-mooc3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QUESTION 4: INTRODUCTION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Introduction &amp;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Data Science Professional Certificate  |  GitHub: https://github.com/vttrongsu1/csr-mooc3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52120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</a:defRPr>
            </a:pPr>
            <a:r>
              <a:t>Commercial Spaceflight Background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Aerospace Paradigm Shift: Historically, all orbital launch systems discarded rocket stages into the ocean. SpaceX pioneered autonomous recovery of first stages using drone ships (ASDS) and landing pads (RTLS).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Economic Leverage: The first stage booster represents ~70% of the entire vehicle manufacturing cost (~$30M-$40M). Reusing boosters enables unprecedented launch frequency and pricing power.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Problem Statement: Can machine learning accurately predict whether the Falcon 9 first stage booster will land successfully based on public launch parameters?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Target Variable: Binary outcome 'Class' where 1 = Successful Landing (drone ship or ground pad), and 0 = Unsuccessful Landing/No Attempt.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34440"/>
            <a:ext cx="52120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</a:defRPr>
            </a:pPr>
            <a:r>
              <a:t>Business Value &amp; Objectives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Launch Cost Forecasting: Enables commercial payload operators to estimate real mission costs based on booster recovery probability.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Competitive Bidding Intelligence: Allows competing launch service providers to calculate SpaceX's true profit margins and bid competitively.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Insurance Underwriting: Provides insurers with quantitative risk models to price satellite launch insurance policies dynamically.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Mission Planning: Informs spacecraft manufacturers on orbital and payload configurations that maximize booster recovery chances.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GitHub Repository: https://github.com/vttrongsu1/csr-mooc3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QUESTION 5: DATA COLLECTION &amp; WRANGLING METHODOLOGY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Data Collection and Data Wrangling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Data Science Professional Certificate  |  GitHub: https://github.com/vttrongsu1/csr-mooc3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52120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</a:defRPr>
            </a:pPr>
            <a:r>
              <a:t>Data Collection: API &amp; Web Scraping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SpaceX REST API Pipeline: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Endpoint: https://api.spacexdata.com/v4/launches/past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Flowchart: [GET Request] -&gt; [pd.json_normalize] -&gt; [Filter Falcon 9 Cores] -&gt; [Query Rocket/Launchpad/Payload/Core APIs] -&gt; [dataset_part_1.csv]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Extracted 90 launches with 17 operational features.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Web Scraping Workflow: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Target: Wikipedia 'List of Falcon 9 and Falcon Heavy launches'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Flowchart: [requests.get with User-Agent] -&gt; [BeautifulSoup html.parser] -&gt; [Find 'wikitable'] -&gt; [Parse &lt;tr&gt; and &lt;td&gt;] -&gt; [Clean strings &amp; regex] -&gt; [spacex_web_scraped.csv]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GitHub URL: https://github.com/vttrongsu1/csr-mooc3/blob/main/notebooks/01_Data_Collection_SpaceX_API.ipynb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34440"/>
            <a:ext cx="52120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</a:defRPr>
            </a:pPr>
            <a:r>
              <a:t>Data Wrangling &amp; Feature Engineering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Missing Value Imputation: Detected missing values in PayloadMass. Imputed using column mean (6,104.96 kg) via df['PayloadMass'].fillna(mean).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Binary Outcome Classification ('Class'):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Evaluated 8 telemetry outcome strings.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Success (Class = 1): True ASDS, True RTLS, True Ocean (60 launches, 66.7%).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Failure (Class = 0): False ASDS, False RTLS, False Ocean, None ASDS, None None (30 launches, 33.3%).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Feature Matrix (dataset_part_3.csv):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One-hot encoded categorical features (Orbit, LaunchSite, LandingPad, Serial) using pd.get_dummies(), yielding 83 numerical feature columns.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GitHub URL: https://github.com/vttrongsu1/csr-mooc3/blob/main/notebooks/03_Data_Wrangling.ipynb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QUESTION 6: EDA &amp; VISUALIZATION METHODOLOGY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EDA and Data Visualization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Data Science Professional Certificate  |  GitHub: https://github.com/vttrongsu1/csr-mooc3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52120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</a:defRPr>
            </a:pPr>
            <a:r>
              <a:t>Chart Catalog &amp; Analytical Objectives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1. Flight Number vs. Launch Site (Scatter Plot):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 - Purpose: Track operational launch site migration and verify if landing success rates improve across sequential flight numbers.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2. Payload Mass vs. Launch Site (Scatter Plot):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 - Purpose: Analyze payload capacity profiles across launch complexes and identify high-mass landing constraints.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3. Success Rate vs. Orbit Type (Bar Chart):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 - Purpose: Determine which orbital insertions achieve the highest landing success rates and identify high-risk orbital profiles.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4. Flight Number vs. Orbit Type (Scatter Plot):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 - Purpose: Trace the chronological expansion of SpaceX missions from LEO/ISS resupply to commercial GTO and VLEO Starlink.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GitHub URL: https://github.com/vttrongsu1/csr-mooc3/blob/main/notebooks/05_EDA_with_Data_Visualization.ipynb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34440"/>
            <a:ext cx="52120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</a:defRPr>
            </a:pPr>
            <a:r>
              <a:t>Extended Visuals &amp; Standards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5. Payload Mass vs. Orbit Type (Scatter Plot):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 - Purpose: Assess payload thresholds across orbital energies and determine their correlation with landing outcomes.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6. Yearly Launch Success Rate Trend (Line Chart):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 - Purpose: Measure the long-term technological learning curve from experimental testing (2010) to industrial maturity (2020).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Software Stack &amp; Standards: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 - Python libraries: Pandas 3.0, Matplotlib 3.11, Seaborn 0.13.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 - Visual Encoding: Consistent color palette—Green (#10B981) for Success (Class 1) and Red (#EF4444) for Failure (Class 0).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 - Publication Quality: Rendered at 300 DPI for sharp presentation.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GitHub URL: https://github.com/vttrongsu1/csr-mooc3/blob/main/scripts/05_eda_visualization.py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QUESTION 7: PREDICTIVE ANALYSIS (CLASSIFICATION) METHODOLOGY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Predictive Analysis (Classification)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Data Science Professional Certificate  |  GitHub: https://github.com/vttrongsu1/csr-mooc3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52120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</a:defRPr>
            </a:pPr>
            <a:r>
              <a:t>Preprocessing &amp; Cross-Validation Setup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Feature Matrix (X): 83 numeric features derived from dataset_part_3.csv.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Target Vector (Y): Binary landing outcome Class (1 = Success, 0 = Failure).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Standardization: Applied StandardScaler() to normalize feature scales (zero mean, unit variance), critical for distance and regularized models.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Train/Test Split: 80% Training (72 samples), 20% Holdout Test (18 samples) with random_state=2 for strict reproducibility.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Hyperparameter Tuning: 10-fold cross-validation with GridSearchCV across all four model families to optimize hyperparameters and prevent overfitting.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GitHub URL: https://github.com/vttrongsu1/csr-mooc3/blob/main/notebooks/08_Predictive_Analysis_Machine_Learning.ipynb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34440"/>
            <a:ext cx="52120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</a:defRPr>
            </a:pPr>
            <a:r>
              <a:t>Classification Algorithms &amp; Search Grids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1. Logistic Regression: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 - Grid: C in [0.01, 0.1, 1.0], penalty=['l2'], solver=['lbfgs']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 - Purpose: Establish strong linear baseline with probabilistic interpretability.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2. Support Vector Machine (SVM):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 - Grid: C in [0.5, 1.0, 1.5], kernel=['linear', 'rbf', 'sigmoid']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 - Purpose: Maximize classification margin in high-dimensional feature space.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3. Decision Tree Classifier: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 - Grid: criterion=['gini', 'entropy'], max_depth=[2, 4, 6, 8], min_samples_leaf=[1, 2, 4]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 - Purpose: Capture non-linear interactions without scaling assumptions.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4. K-Nearest Neighbors (KNN):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 - Grid: n_neighbors=[3, 5, 7, 9, 10], p=[1, 2], algorithm=['auto', 'ball_tree']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 - Purpose: Instance-based classification matching historical mission profiles.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QUESTION 8: EDA WITH VISUALIZATION RESULTS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EDA with Visualization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Data Science Professional Certificate  |  GitHub: https://github.com/vttrongsu1/csr-mooc3</a:t>
            </a:r>
          </a:p>
        </p:txBody>
      </p:sp>
      <p:pic>
        <p:nvPicPr>
          <p:cNvPr id="5" name="Picture 4" descr="eda_visualizations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6217920" cy="377516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188720"/>
            <a:ext cx="42976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1325880"/>
            <a:ext cx="3931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</a:defRPr>
            </a:pPr>
            <a:r>
              <a:t>Key Visualization Findings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Launch Sites (Chart 1 &amp; 2):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KSC LC-39A demonstrates the highest landing success rate (76.9%).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CCAFS LC-40 handled initial test flights with mixed early success, improving sharply after Flight 25.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VAFB SLC-4E specializes in western polar missions with payloads &lt;10,000 kg.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Orbit Success Rates (Chart 3):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- 100% Success: ES-L1, GEO, HEO, and SSO.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High Success: VLEO (Starlink) ~85% and ISS resupply ~62%.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Moderate Success: GTO missions (~60%) due to high staging velocity and extreme re-entry heating.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Yearly Learning Curve (Chart 4):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- 2010–2012: 0% success (parachute tests).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- 2013–2015: First ground landing (33% success).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- 2018–2020: Consistent &gt;85% annual success.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GitHub URL: https://github.com/vttrongsu1/csr-mooc3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QUESTION 9: EDA WITH SQL SLIDES/QUERIES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EDA with SQL Slides &amp; Queries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Data Science Professional Certificate  |  GitHub: https://github.com/vttrongsu1/csr-mooc3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52120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</a:defRPr>
            </a:pPr>
            <a:r>
              <a:t>SQL Queries 1 to 5: Sites &amp; Payloads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Q1: Distinct Launch Sites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SELECT DISTINCT Launch_Site FROM SPACEXTBL;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--&gt; CCAFS LC-40, VAFB SLC-4E, KSC LC-39A, CCAFS SLC-40.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Q2: 5 Launches Beginning with 'CCA'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SELECT * FROM SPACEXTBL WHERE Launch_Site LIKE 'CCA%' LIMIT 5;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--&gt; Returned Flights 1-5 (Dragon Qualification, Demo C1, C2, CRS-1, CRS-2).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Q3: Total NASA (CRS) Payload Mass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SELECT SUM(PAYLOAD_MASS__KG_) FROM SPACEXTBL WHERE Customer = 'NASA (CRS)';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--&gt; Total Payload Mass = 45,596 kg across all CRS missions.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Q4: Average Payload Mass for F9 v1.1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SELECT AVG(PAYLOAD_MASS__KG_) FROM SPACEXTBL WHERE Booster_Version LIKE 'F9 v1.1%';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--&gt; Average Payload Mass = 2,534.67 kg.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Q5: First Successful Ground Pad Landing Date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SELECT MIN(Date) FROM SPACEXTBL WHERE Landing_Outcome = 'Success (ground pad)';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--&gt; First Date = 2015-12-22 (Flight 20, Orbcomm OG2 at LZ-1).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34440"/>
            <a:ext cx="52120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</a:defRPr>
            </a:pPr>
            <a:r>
              <a:t>SQL Queries 6 to 10: Drone Ships &amp; Rankings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Q6: Drone Ship Success with 4k-6k kg Payload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SELECT Booster_Version, PAYLOAD_MASS__KG_ FROM SPACEXTBL WHERE Landing_Outcome = 'Success (drone ship)' AND PAYLOAD_MASS__KG_ BETWEEN 4000 AND 6000;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--&gt; Boosters: F9 FT B1022 (4,696 kg), B1026 (4,600 kg), B1021.2 (5,300 kg), B1031.2 (5,200 kg).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Q7: Mission Outcomes Breakdown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SELECT TRIM(Mission_Outcome), COUNT(*) FROM SPACEXTBL GROUP BY TRIM(Mission_Outcome);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--&gt; Success: 99 | Failure (in flight): 1 | Unclear: 1.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Q8: Maximum Payload Boosters (15,600 kg)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SELECT DISTINCT Booster_Version FROM SPACEXTBL WHERE PAYLOAD_MASS__KG_ = (SELECT MAX(PAYLOAD_MASS__KG_) FROM SPACEXTBL);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--&gt; Starlink flights by F9 B5 (B1048, B1049, B1051, B1056, B1058, B1060).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Q9: 2015 Drone Ship Landing Failures by Month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--&gt; Month 01 (2015-01-10, B1012) &amp; Month 04 (2015-04-14, B1015).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Q10: Ranked Landing Outcomes (2010-06-04 to 2017-03-20)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--&gt; No attempt (10), Success drone ship (5), Failure drone ship (5), Success ground pad (3), Controlled ocean (3).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QUESTION 10: FOLIUM MAP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Interactive Visual Analytics: Folium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Data Science Professional Certificate  |  GitHub: https://github.com/vttrongsu1/csr-mooc3</a:t>
            </a:r>
          </a:p>
        </p:txBody>
      </p:sp>
      <p:pic>
        <p:nvPicPr>
          <p:cNvPr id="5" name="Picture 4" descr="folium_launch_si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3840480" cy="2112264"/>
          </a:xfrm>
          <a:prstGeom prst="rect">
            <a:avLst/>
          </a:prstGeom>
        </p:spPr>
      </p:pic>
      <p:pic>
        <p:nvPicPr>
          <p:cNvPr id="6" name="Picture 5" descr="folium_proximity_analy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234440"/>
            <a:ext cx="3840480" cy="211226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778240" y="1234440"/>
            <a:ext cx="265176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19" y="1371600"/>
            <a:ext cx="2286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</a:defRPr>
            </a:pPr>
            <a:r>
              <a:t>Geospatial &amp; Proximity Insights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Coastal Launch Strategy: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All launch pads placed on coasts (Florida &amp; California) to ensure launch azimuths travel over water, eliminating overland hazard.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MarkerClusters: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Green markers for success, Red for failure.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Proximity Distances (KSC LC-39A):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Coastline: 0.85 km (immediate water overflight for abort safety).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Highway: 1.2 km (safe logistics corridor).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Railroad: 1.35 km (NASA rail transit).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City (Titusville): 16.5 km (blast &amp; sonic buffer).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Map: https://github.com/vttrongsu1/csr-mooc3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QUESTION 11: PLOTLY DASH-RELATED CONTENT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Interactive Visual Analytics: Plotly Dash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Data Science Professional Certificate  |  GitHub: https://github.com/vttrongsu1/csr-mooc3</a:t>
            </a:r>
          </a:p>
        </p:txBody>
      </p:sp>
      <p:pic>
        <p:nvPicPr>
          <p:cNvPr id="5" name="Picture 4" descr="dash_pie_all_si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3474720" cy="2171700"/>
          </a:xfrm>
          <a:prstGeom prst="rect">
            <a:avLst/>
          </a:prstGeom>
        </p:spPr>
      </p:pic>
      <p:pic>
        <p:nvPicPr>
          <p:cNvPr id="6" name="Picture 5" descr="dash_pie_ksc_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234440"/>
            <a:ext cx="3474720" cy="2171700"/>
          </a:xfrm>
          <a:prstGeom prst="rect">
            <a:avLst/>
          </a:prstGeom>
        </p:spPr>
      </p:pic>
      <p:pic>
        <p:nvPicPr>
          <p:cNvPr id="7" name="Picture 6" descr="dash_scatter_payload_outc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234440"/>
            <a:ext cx="3474720" cy="1737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6634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</a:defRPr>
            </a:pPr>
            <a:r>
              <a:t>Plotly Dash Operational Dashboard Insights: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Launch Site Success Share: KSC LC-39A contributes the largest share of successful recoveries (41.7%), followed by CCAFS SLC-40 (30.6%) and VAFB SLC-4E (16.7%).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Site Success Ratio: KSC LC-39A achieves an exceptional 76.9% success rate (10 successes vs. 3 failures), outperforming all other facilities.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Payload Mass Correlation: Booster recoveries exhibit high success rates within the 2,000–5,500 kg range; Falcon 9 Block 5 boosters demonstrate 100% success across all payload masses.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Interactive Dash Server Code: https://github.com/vttrongsu1/csr-mooc3/blob/main/scripts/07_spacex_dash_app.py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QUESTION 12: PREDICTIVE ANALYSIS RESULTS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Predictive Analysis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Data Science Professional Certificate  |  GitHub: https://github.com/vttrongsu1/csr-mooc3</a:t>
            </a:r>
          </a:p>
        </p:txBody>
      </p:sp>
      <p:pic>
        <p:nvPicPr>
          <p:cNvPr id="5" name="Picture 4" descr="ml_model_accura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212080" cy="2895600"/>
          </a:xfrm>
          <a:prstGeom prst="rect">
            <a:avLst/>
          </a:prstGeom>
        </p:spPr>
      </p:pic>
      <p:pic>
        <p:nvPicPr>
          <p:cNvPr id="6" name="Picture 5" descr="ml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34440"/>
            <a:ext cx="521208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46634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</a:defRPr>
            </a:pPr>
            <a:r>
              <a:t>Model Evaluation, Comparison &amp; Confusion Matrix Analysis: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Performance Scores: Logistic Regression (83.33%), SVM (83.33%), and KNN (83.33%) tied for highest Test Accuracy on the 18-sample holdout test set. Decision Tree achieved 87.14% Train CV and 77.78% Test accuracy.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Confusion Matrix Breakdown (18 Test Samples): True Positives = 12 (100% recall on successes), True Negatives = 3, False Positives = 3, False Negatives = 0. No successful landings were misclassified as failures.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Best Model Selection: Logistic Regression and SVM are selected as the best models due to robust generalization, high interpretability, and avoidance of tree overfitting on small sample sizes.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Notebook Reference: https://github.com/vttrongsu1/csr-mooc3/blob/main/notebooks/08_Predictive_Analysis_Machine_Learning.ipynb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QUESTIONS 13, 14, 15: CONCLUSION, CREATIVITY &amp; INNOVATIVE INSIGHTS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Conclusion, Creativity &amp; Innovative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Data Science Professional Certificate  |  GitHub: https://github.com/vttrongsu1/csr-mooc3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52120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</a:defRPr>
            </a:pPr>
            <a:r>
              <a:t>Conclusion &amp; Recommendations (Q13)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Economic Takeaway: First-stage reusability delivers a decisive cost advantage, slashing launch costs by ~60% ($62M vs $165M+), revolutionizing commercial space access.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Reliability Proven: Recovery success grew from 0% in 2010 to &gt;85% by 2020, demonstrating full industrialization.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Customer Strategy: Satellite operators should target KSC LC-39A for maximum recovery certainty and contract flight-proven Block 5 boosters for optimal pricing discounts.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Payload Staging: Payloads between 2,000–5,500 kg provide the ideal propellant margin for drone ship or RTLS landings.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Full Project Repository: https://github.com/vttrongsu1/csr-mooc3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34440"/>
            <a:ext cx="52120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</a:defRPr>
            </a:pPr>
            <a:r>
              <a:t>Creativity (Q14) &amp; Innovative Insights (Q15)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Creativity in Presentation (Question 14):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Custom 16:9 widescreen dark theme with high-res multi-panel figures, standalone HTML Folium map, and interactive Plotly Dash dashboard.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Innovative Future Insights (Question 15):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Oceanographic &amp; Atmospheric Fusion: Integrate real-time drone ship GPS roll/pitch angles, sea state wave heights, and upper-level wind shear directly into the predictive model.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Bayesian Neural Networks: Deploy Bayesian deep learning to provide calibrated confidence intervals and epistemic uncertainty bounds for high-value national security payloads.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- Dynamic Insurance Pricing: Real-time risk model pricing premiums dynamically based on booster flight heritage and landing pad weather.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